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34b85196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34b85196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4b85196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4b85196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4b85196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34b85196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34b85196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34b85196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3e89521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3e89521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3e89521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3e89521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3e89521a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3e89521a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6c84750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6c84750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680"/>
              <a:t>An RAG System for Understanding, Identifying and Suggesting Treatments for Psychiatric Disorders</a:t>
            </a:r>
            <a:endParaRPr b="1" sz="26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2626200" cy="9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Project Proposal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DSCI 6004 - </a:t>
            </a:r>
            <a:r>
              <a:rPr lang="en-GB" sz="1300"/>
              <a:t>Natural</a:t>
            </a:r>
            <a:r>
              <a:rPr lang="en-GB" sz="1300"/>
              <a:t> Language Processing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Alima Aqsai &amp; Ellen Martin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Project Topic &amp; Domain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RAG system for the domain of psychiatric &amp; clinical mental health disorders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Training Corpus: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Diagnostic manuals (</a:t>
            </a:r>
            <a:r>
              <a:rPr i="1" lang="en-GB"/>
              <a:t>Diagnostic &amp; Statistical Manual</a:t>
            </a:r>
            <a:r>
              <a:rPr lang="en-GB"/>
              <a:t>, </a:t>
            </a:r>
            <a:r>
              <a:rPr i="1" lang="en-GB"/>
              <a:t>International Classification of Disease</a:t>
            </a:r>
            <a:r>
              <a:rPr lang="en-GB"/>
              <a:t> manuals)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Clinical treatment guides (</a:t>
            </a:r>
            <a:r>
              <a:rPr i="1" lang="en-GB"/>
              <a:t>National Institute of Mental Health</a:t>
            </a:r>
            <a:r>
              <a:rPr lang="en-GB"/>
              <a:t>, </a:t>
            </a:r>
            <a:r>
              <a:rPr i="1" lang="en-GB"/>
              <a:t>National Health Service)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Open-source psychiatric textbooks &amp; handbooks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Publications from </a:t>
            </a:r>
            <a:r>
              <a:rPr lang="en-GB"/>
              <a:t>psychological</a:t>
            </a:r>
            <a:r>
              <a:rPr lang="en-GB"/>
              <a:t> societies (</a:t>
            </a:r>
            <a:r>
              <a:rPr i="1" lang="en-GB"/>
              <a:t>American Psychological Association, British Psychological Society, World Health Organization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68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Project Objectives and Value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07050"/>
            <a:ext cx="8520600" cy="38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Psychiatric disorders are highly complex and challenging to accurately diagnose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Objectives:</a:t>
            </a:r>
            <a:r>
              <a:rPr lang="en-GB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Implement an RAG system that allows users to </a:t>
            </a:r>
            <a:r>
              <a:rPr b="1" lang="en-GB"/>
              <a:t>input complex psychiatric content</a:t>
            </a:r>
            <a:r>
              <a:rPr lang="en-GB"/>
              <a:t> and ask psychiatry-specific questions (e.g., diagnosis, symptom checking, disorder comparison)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Deploy Llama-3.1, Mistral-7B and Phi-3 models to compare performance in psychiatric contexts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Value: </a:t>
            </a:r>
            <a:r>
              <a:rPr lang="en-GB"/>
              <a:t>An advanced RAG assistant system may allow clinicians to better diagnose disorders and understand symptoms, ultimately leading to better treatment suggestions and alleviation of psychiatric symptoms and disease burden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/>
              <a:t>NLP-based RAG systems may also contribute to increasing </a:t>
            </a:r>
            <a:r>
              <a:rPr b="1" i="1" lang="en-GB"/>
              <a:t>affordable</a:t>
            </a:r>
            <a:r>
              <a:rPr i="1" lang="en-GB"/>
              <a:t> </a:t>
            </a:r>
            <a:r>
              <a:rPr b="1" i="1" lang="en-GB"/>
              <a:t>access</a:t>
            </a:r>
            <a:r>
              <a:rPr i="1" lang="en-GB"/>
              <a:t> to psychiatric care and treatment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166275" y="16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Literature Review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899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LLMs hold promise in promoting equal access to health resources and treatment, enhancing the process of psychiatric diagnosis and treatment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-GB"/>
              <a:t>Wan et al (2024): </a:t>
            </a:r>
            <a:r>
              <a:rPr lang="en-GB"/>
              <a:t>Integration of an LLM for nursing and patient support resulted in </a:t>
            </a:r>
            <a:r>
              <a:rPr b="1" lang="en-GB"/>
              <a:t>greater patient satisfaction</a:t>
            </a:r>
            <a:r>
              <a:rPr lang="en-GB"/>
              <a:t>, </a:t>
            </a:r>
            <a:r>
              <a:rPr b="1" lang="en-GB"/>
              <a:t>higher quality</a:t>
            </a:r>
            <a:r>
              <a:rPr lang="en-GB"/>
              <a:t> of nurses’ responses to patient questions and a </a:t>
            </a:r>
            <a:r>
              <a:rPr b="1" lang="en-GB"/>
              <a:t>reduction in negative emotions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-GB"/>
              <a:t>Wang et al (2025):</a:t>
            </a:r>
            <a:r>
              <a:rPr lang="en-GB"/>
              <a:t> RAGs may be especially useful due to their ability to incorporate the most </a:t>
            </a:r>
            <a:r>
              <a:rPr b="1" lang="en-GB"/>
              <a:t>up-to-date medical guidelines</a:t>
            </a:r>
            <a:r>
              <a:rPr lang="en-GB"/>
              <a:t> and to make references to source text (allowing experts to verify conclusions)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-GB"/>
              <a:t>Ali et al (2025): </a:t>
            </a:r>
            <a:r>
              <a:rPr lang="en-GB"/>
              <a:t>In medical contexts (not psychiatry specifically), Mistral-based LMs have performed well (</a:t>
            </a:r>
            <a:r>
              <a:rPr b="1" lang="en-GB"/>
              <a:t>up to 91.9% accuracy</a:t>
            </a:r>
            <a:r>
              <a:rPr lang="en-GB"/>
              <a:t>) - mainly on x-ray datasets (matched written reports and xray images)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166275" y="16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Literature Review</a:t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899900"/>
            <a:ext cx="8520600" cy="39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-GB"/>
              <a:t>Bandara</a:t>
            </a:r>
            <a:r>
              <a:rPr b="1" i="1" lang="en-GB"/>
              <a:t> et al (2026):</a:t>
            </a:r>
            <a:r>
              <a:rPr lang="en-GB"/>
              <a:t> Used a decoder-transformer architecture to support the diagnosis of mental health disorders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Used 2000 annotated records designed to replicate real-world clinical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GB"/>
              <a:t>OpenAI GPT OSS used as ‘decision-maker</a:t>
            </a:r>
            <a:r>
              <a:rPr lang="en-GB"/>
              <a:t>’ and was programmed to evaluate based on alignment to the DSM-5 (gold-standard clinical diagnostic manual)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Were able to successfully identify (from conversational data) symptoms of depression, anxiety, schizophrenia, PTSD and others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en-GB"/>
              <a:t>Cremaschi et al (2025): </a:t>
            </a:r>
            <a:r>
              <a:rPr lang="en-GB"/>
              <a:t>Implemented an RAG (LLMind-Chat) on ICD-11 (International Classification of Diseases)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Based on Gemma 2 (27B parameters) - decoder only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Used to guide decision-making in psychiatry (diagnosis)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F1-score of 0.524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Average human accuracy rate of 76.1% (4 psychologists &amp; psychotherapists)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163725" y="240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Approach &amp; Data</a:t>
            </a:r>
            <a:endParaRPr b="1" sz="172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78750" y="572700"/>
            <a:ext cx="8986500" cy="45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br>
              <a:rPr lang="en-GB" sz="1035"/>
            </a:br>
            <a:r>
              <a:rPr lang="en-GB" sz="1135"/>
              <a:t>The system answer questions using sources like DSM-5, ICD-11, clinical treatment guides, open-source psychiatric textbooks, and publications from the APA, BPS, and WHO. </a:t>
            </a:r>
            <a:endParaRPr sz="10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GB" sz="1135"/>
              <a:t>LLMs: (Three open-source models are deployed and compared within the same RAG pipeline)</a:t>
            </a:r>
            <a:br>
              <a:rPr lang="en-GB" sz="1135"/>
            </a:br>
            <a:r>
              <a:rPr lang="en-GB" sz="1135"/>
              <a:t>  1. Llama-3.1 (Meta, 8B)</a:t>
            </a:r>
            <a:br>
              <a:rPr lang="en-GB" sz="1135"/>
            </a:br>
            <a:r>
              <a:rPr lang="en-GB" sz="1135"/>
              <a:t>  2. Mistral-7B (Mistral AI, 7B)</a:t>
            </a:r>
            <a:br>
              <a:rPr lang="en-GB" sz="1135"/>
            </a:br>
            <a:r>
              <a:rPr lang="en-GB" sz="1135"/>
              <a:t>  3. Phi-3 (Microsoft, 3.8B)</a:t>
            </a:r>
            <a:endParaRPr sz="11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35"/>
              <a:t>RAG Pipeline:</a:t>
            </a:r>
            <a:br>
              <a:rPr lang="en-GB" sz="1135"/>
            </a:br>
            <a:r>
              <a:rPr b="1" lang="en-GB" sz="1135"/>
              <a:t>1. Ingestion &amp; Chunking</a:t>
            </a:r>
            <a:br>
              <a:rPr lang="en-GB" sz="1135"/>
            </a:br>
            <a:r>
              <a:rPr lang="en-GB" sz="1135"/>
              <a:t>  Source documents are parsed and split into overlapping text chunks (~300–500 tokens).</a:t>
            </a:r>
            <a:br>
              <a:rPr lang="en-GB" sz="1135"/>
            </a:br>
            <a:r>
              <a:rPr b="1" lang="en-GB" sz="1135"/>
              <a:t>2. Embedding</a:t>
            </a:r>
            <a:br>
              <a:rPr lang="en-GB" sz="1135"/>
            </a:br>
            <a:r>
              <a:rPr lang="en-GB" sz="1135"/>
              <a:t>   Each chunk is encoded into a vector using BioBERT or MedCPT </a:t>
            </a:r>
            <a:br>
              <a:rPr lang="en-GB" sz="1135"/>
            </a:br>
            <a:r>
              <a:rPr b="1" lang="en-GB" sz="1135"/>
              <a:t>3. Vector Store</a:t>
            </a:r>
            <a:br>
              <a:rPr lang="en-GB" sz="1135"/>
            </a:br>
            <a:r>
              <a:rPr lang="en-GB" sz="1135"/>
              <a:t>   All vectors are stored in FAISS or ChromaDB, this enables fast semantic search across the entire corpus at query time.</a:t>
            </a:r>
            <a:br>
              <a:rPr lang="en-GB" sz="1135"/>
            </a:br>
            <a:r>
              <a:rPr b="1" lang="en-GB" sz="1135"/>
              <a:t>4. Retrieval</a:t>
            </a:r>
            <a:br>
              <a:rPr lang="en-GB" sz="1135"/>
            </a:br>
            <a:r>
              <a:rPr lang="en-GB" sz="1135"/>
              <a:t>   When a question is asked, it is embedded using the same model. The top-k most relevant chunks are retrieved as context.</a:t>
            </a:r>
            <a:br>
              <a:rPr lang="en-GB" sz="1135"/>
            </a:br>
            <a:r>
              <a:rPr b="1" lang="en-GB" sz="1135"/>
              <a:t>5. Generation</a:t>
            </a:r>
            <a:br>
              <a:rPr lang="en-GB" sz="1135"/>
            </a:br>
            <a:r>
              <a:rPr lang="en-GB" sz="1135"/>
              <a:t>   The retrieved chunks and the original query are passed to each LLM, which generates a grounded answer constrained by the evidence,    this reduces hallucination.</a:t>
            </a:r>
            <a:endParaRPr sz="113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35"/>
              <a:t> </a:t>
            </a:r>
            <a:endParaRPr sz="1035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03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58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Deliverables</a:t>
            </a:r>
            <a:endParaRPr b="1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512800" y="1406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Project Report (RAG system, experiments, analysis)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RAG system implementation (codebase)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Evaluation dataset (10–20 psychiatric queries)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Comparative analysis (Llama 3.1, Mistral 7B, Phi-3)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Presentation slides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GitHub repository (code, report, results)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-GB" sz="1900"/>
              <a:t>User documentation (.MD setup &amp; usage guide)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Evaluation</a:t>
            </a:r>
            <a:endParaRPr b="1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Attention Weights Plot:</a:t>
            </a:r>
            <a:r>
              <a:rPr lang="en-GB"/>
              <a:t> For interpretability of responses to psychiatric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BLEU/ROUGE: </a:t>
            </a:r>
            <a:r>
              <a:rPr lang="en-GB"/>
              <a:t>Compare the model’s answers with reference answers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Answer relevance: </a:t>
            </a:r>
            <a:r>
              <a:rPr lang="en-GB"/>
              <a:t>whether the response answers the user’s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DSM-5/ICD-11 Alignment:</a:t>
            </a:r>
            <a:r>
              <a:rPr lang="en-GB"/>
              <a:t> if the model’s output matches real clinical diagnostic </a:t>
            </a:r>
            <a:r>
              <a:rPr lang="en-GB"/>
              <a:t>criteria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Precision@k: </a:t>
            </a:r>
            <a:r>
              <a:rPr lang="en-GB"/>
              <a:t>if many of the top retrieved documents are actually relevant to the user’s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recall@k: </a:t>
            </a:r>
            <a:r>
              <a:rPr lang="en-GB"/>
              <a:t>if the system is able to retrieve important information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GB"/>
              <a:t>Reasoning &amp; Factual Accuracy:</a:t>
            </a:r>
            <a:r>
              <a:rPr lang="en-GB"/>
              <a:t> if the explanation is logical and medically correct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References</a:t>
            </a:r>
            <a:endParaRPr b="1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Ali, H., Sumon, R. I., Khalid, A. R., Fathima, K., &amp; Kim, H. C. (2025). A Semantic Evaluation Framework for Medical Report Generation Using Large Language Models.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Computers, Materials &amp; Continua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84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(3).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Bandara, E., Gore, R., Shetty, S., Mukkamala, R., Rhea, C. K., Samulski, B. S., ... &amp; De Zoysa, K. (2026). Standardization of Neuromuscular Reflex Analysis—Role of Fine-Tuned Vision-Language Model Consortium and OpenAI gpt-oss Reasoning LLM-Enabled Decision Support System.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Biomechanics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6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(1), 23.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Cremaschi, M., Ditolve, D., Curcio, C., Panzeri, A., Spoto, A., &amp; Maurino, A. (2025). Decoding the mind: A RAG-LLM on ICD-11 for decision support in psychology.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Expert Systems with Applications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279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, 127191.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Wan, P., Huang, Z., Tang, W., Nie, Y., Pei, D., Deng, S., ... &amp; Long, E. (2024). Outpatient reception via collaboration between nurses and a large language model: a randomized controlled trial.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Nature Medicine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30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(10), 2878-2885.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Wang, Y. F., Li, M. D., Wang, S. H., Fang, Y., Sun, J., Lu, L., &amp; Yan, W. (2025). Large language models in clinical psychiatry: Applications and optimization strategies.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World Journal of Psychiatry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, </a:t>
            </a:r>
            <a:r>
              <a:rPr i="1" lang="en-GB" sz="1000">
                <a:solidFill>
                  <a:srgbClr val="222222"/>
                </a:solidFill>
                <a:highlight>
                  <a:srgbClr val="FFFFFF"/>
                </a:highlight>
              </a:rPr>
              <a:t>15</a:t>
            </a:r>
            <a:r>
              <a:rPr lang="en-GB" sz="1000">
                <a:solidFill>
                  <a:srgbClr val="222222"/>
                </a:solidFill>
                <a:highlight>
                  <a:srgbClr val="FFFFFF"/>
                </a:highlight>
              </a:rPr>
              <a:t>(11), 108199.</a:t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